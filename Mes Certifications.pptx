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57" r:id="rId5"/>
    <p:sldId id="260" r:id="rId6"/>
    <p:sldId id="261" r:id="rId7"/>
    <p:sldId id="262" r:id="rId8"/>
    <p:sldId id="263" r:id="rId9"/>
    <p:sldId id="264"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1E808D-F814-5875-519E-EC33030242D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21FE9E0F-B268-C23B-26CF-AE289DA504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C0A5210-05A2-BDE4-8959-442B56B43AB6}"/>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5" name="Espace réservé du pied de page 4">
            <a:extLst>
              <a:ext uri="{FF2B5EF4-FFF2-40B4-BE49-F238E27FC236}">
                <a16:creationId xmlns:a16="http://schemas.microsoft.com/office/drawing/2014/main" id="{D87824CE-A5AC-BC0F-8656-421866E76A8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4849CD-565C-2E36-5E75-75D1D0FFCCBF}"/>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3640824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5EB716-3208-A014-E0C5-FEF3C8DB7BA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3B23C33-6A9E-8F23-786F-A1CCD52BD39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CD5EE8E-82B6-9E33-8EFB-C8687325542D}"/>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5" name="Espace réservé du pied de page 4">
            <a:extLst>
              <a:ext uri="{FF2B5EF4-FFF2-40B4-BE49-F238E27FC236}">
                <a16:creationId xmlns:a16="http://schemas.microsoft.com/office/drawing/2014/main" id="{51FBAAF3-3C54-2880-2A62-193AF0518F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A171BB5-63F6-A7BA-EE04-B6B52CF5A081}"/>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1547227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2214CC-1A19-3E32-A350-CC4CAF3E1DD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BCBC39C-1D49-11AA-40B7-684DF7AD5A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F08B9A2-0B9A-0519-277C-ACC50CF0BC8C}"/>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5" name="Espace réservé du pied de page 4">
            <a:extLst>
              <a:ext uri="{FF2B5EF4-FFF2-40B4-BE49-F238E27FC236}">
                <a16:creationId xmlns:a16="http://schemas.microsoft.com/office/drawing/2014/main" id="{EAF35412-8673-11CE-C8D4-D984EFAC87D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ADC458C-9CE2-2DD8-9F7E-BD9CEBEACF98}"/>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354146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3D67AB-20C8-8866-2EB9-E19C3A2615F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61AE68D-5627-CA46-4647-0AEE516ED0F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3DF8A0D-45CD-F139-1E01-22537C8E89C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4A95C39-2782-1441-3E3A-67C36D58F33F}"/>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6" name="Espace réservé du pied de page 5">
            <a:extLst>
              <a:ext uri="{FF2B5EF4-FFF2-40B4-BE49-F238E27FC236}">
                <a16:creationId xmlns:a16="http://schemas.microsoft.com/office/drawing/2014/main" id="{6502476C-B2DE-C427-2820-FE192BDD2A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7EE4536-31FD-4147-6DED-498C27E063F5}"/>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4171708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E7CC90-5B6A-2B9F-7E87-40173F7BA53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2F973F0-3C4B-70A5-43E9-1FAD526923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5E27089-8086-20CA-8F63-B04494E895F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17F89D6-9D11-D463-834F-7FE3746FE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8AD9BD5-D625-7CDF-6791-EFD1EA4BA33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618602E-C809-9B2A-8870-079E99321805}"/>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8" name="Espace réservé du pied de page 7">
            <a:extLst>
              <a:ext uri="{FF2B5EF4-FFF2-40B4-BE49-F238E27FC236}">
                <a16:creationId xmlns:a16="http://schemas.microsoft.com/office/drawing/2014/main" id="{150422C8-8E98-D615-8D58-D0248F6C173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13637F6-4266-37E1-E412-FBB470EDE7E0}"/>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2569878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D3AAEB-7E44-B712-B589-D83C3C1935B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1D8003E-9284-1046-02B3-949EB52444AF}"/>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4" name="Espace réservé du pied de page 3">
            <a:extLst>
              <a:ext uri="{FF2B5EF4-FFF2-40B4-BE49-F238E27FC236}">
                <a16:creationId xmlns:a16="http://schemas.microsoft.com/office/drawing/2014/main" id="{F4A2103B-FC82-0356-2515-42A059080C1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3F4ABA0-55DE-21D1-2664-CAF0BAEE847A}"/>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1274477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203B34E-685B-4475-019F-0A72F5D584D2}"/>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3" name="Espace réservé du pied de page 2">
            <a:extLst>
              <a:ext uri="{FF2B5EF4-FFF2-40B4-BE49-F238E27FC236}">
                <a16:creationId xmlns:a16="http://schemas.microsoft.com/office/drawing/2014/main" id="{70F2011F-57AF-5FBF-C645-FE571C5E3E0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99A902C-44B6-F852-9F29-71AEDA6F23C9}"/>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2916854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AB1A60-E34A-AF70-B841-5585831BD1C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0F7102A-BE7E-9BD4-61C3-597ED84C14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CE782AC-DBD5-92FA-E562-59D87300F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5CC8319-9941-3E53-F8DC-3BA9494B0DB7}"/>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6" name="Espace réservé du pied de page 5">
            <a:extLst>
              <a:ext uri="{FF2B5EF4-FFF2-40B4-BE49-F238E27FC236}">
                <a16:creationId xmlns:a16="http://schemas.microsoft.com/office/drawing/2014/main" id="{263AF663-E2A4-EF28-5D18-FAE5C9C5B93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B2B1F8C-6C1D-FCFE-F90F-41C566585353}"/>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304721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E0E1E8-1687-951D-747F-CB485D9F387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26453A35-C3A7-61E1-9F99-CD14140681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DCD662A-1F22-EBBF-F6DA-3DC6D36992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7138064-F109-78B6-4B01-7462BDC1EAA6}"/>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6" name="Espace réservé du pied de page 5">
            <a:extLst>
              <a:ext uri="{FF2B5EF4-FFF2-40B4-BE49-F238E27FC236}">
                <a16:creationId xmlns:a16="http://schemas.microsoft.com/office/drawing/2014/main" id="{713C5EFA-8C5A-16DB-5EE8-23B41BB886C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FB146AB-23F5-BC55-3865-204A559FEA6E}"/>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337672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13FFAB-31A5-0957-FDA8-90E794A6312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AF8B869-ADBB-4C9C-D31F-D30BBD38002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94F8E57-AEE4-AC6E-84AA-4E427D90CB58}"/>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5" name="Espace réservé du pied de page 4">
            <a:extLst>
              <a:ext uri="{FF2B5EF4-FFF2-40B4-BE49-F238E27FC236}">
                <a16:creationId xmlns:a16="http://schemas.microsoft.com/office/drawing/2014/main" id="{FF6F05E8-28B1-D998-7B7C-14D20E4BBFF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D7A08A2-E5AA-B979-C973-B699F339A107}"/>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610797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3BF1FAC-46FD-74D3-219C-D97AE55806D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E862D71-4B4E-62C5-2C4B-FE4D0B771D1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C469A6C-FD25-6DBB-861A-C4F0AB53C350}"/>
              </a:ext>
            </a:extLst>
          </p:cNvPr>
          <p:cNvSpPr>
            <a:spLocks noGrp="1"/>
          </p:cNvSpPr>
          <p:nvPr>
            <p:ph type="dt" sz="half" idx="10"/>
          </p:nvPr>
        </p:nvSpPr>
        <p:spPr/>
        <p:txBody>
          <a:bodyPr/>
          <a:lstStyle/>
          <a:p>
            <a:fld id="{70F03E0B-7AFC-4D8B-B098-B0B8DC05F1E8}" type="datetimeFigureOut">
              <a:rPr lang="fr-FR" smtClean="0"/>
              <a:t>04/06/2025</a:t>
            </a:fld>
            <a:endParaRPr lang="fr-FR"/>
          </a:p>
        </p:txBody>
      </p:sp>
      <p:sp>
        <p:nvSpPr>
          <p:cNvPr id="5" name="Espace réservé du pied de page 4">
            <a:extLst>
              <a:ext uri="{FF2B5EF4-FFF2-40B4-BE49-F238E27FC236}">
                <a16:creationId xmlns:a16="http://schemas.microsoft.com/office/drawing/2014/main" id="{8BE826F7-E558-8785-ADBC-1E3402A8BA5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27D216D-29CD-F165-4FA6-B9BB9DA03076}"/>
              </a:ext>
            </a:extLst>
          </p:cNvPr>
          <p:cNvSpPr>
            <a:spLocks noGrp="1"/>
          </p:cNvSpPr>
          <p:nvPr>
            <p:ph type="sldNum" sz="quarter" idx="12"/>
          </p:nvPr>
        </p:nvSpPr>
        <p:spPr/>
        <p:txBody>
          <a:bodyPr/>
          <a:lstStyle/>
          <a:p>
            <a:fld id="{AAED6478-2D70-4A52-AF49-22EC2A971B4E}" type="slidenum">
              <a:rPr lang="fr-FR" smtClean="0"/>
              <a:t>‹N°›</a:t>
            </a:fld>
            <a:endParaRPr lang="fr-FR"/>
          </a:p>
        </p:txBody>
      </p:sp>
    </p:spTree>
    <p:extLst>
      <p:ext uri="{BB962C8B-B14F-4D97-AF65-F5344CB8AC3E}">
        <p14:creationId xmlns:p14="http://schemas.microsoft.com/office/powerpoint/2010/main" val="3887443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D9A0AEB-64DC-D76C-2643-8115D74D9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B7D3A19-7C52-EFF3-F255-FE70BFE8D6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8D2A8D3-94ED-2107-1A9F-A014A9412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F03E0B-7AFC-4D8B-B098-B0B8DC05F1E8}" type="datetimeFigureOut">
              <a:rPr lang="fr-FR" smtClean="0"/>
              <a:t>04/06/2025</a:t>
            </a:fld>
            <a:endParaRPr lang="fr-FR"/>
          </a:p>
        </p:txBody>
      </p:sp>
      <p:sp>
        <p:nvSpPr>
          <p:cNvPr id="5" name="Espace réservé du pied de page 4">
            <a:extLst>
              <a:ext uri="{FF2B5EF4-FFF2-40B4-BE49-F238E27FC236}">
                <a16:creationId xmlns:a16="http://schemas.microsoft.com/office/drawing/2014/main" id="{A6035902-1C61-6501-7BA4-91B96B311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2E1FA22-F31B-CB19-A772-7474491F50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ED6478-2D70-4A52-AF49-22EC2A971B4E}" type="slidenum">
              <a:rPr lang="fr-FR" smtClean="0"/>
              <a:t>‹N°›</a:t>
            </a:fld>
            <a:endParaRPr lang="fr-FR"/>
          </a:p>
        </p:txBody>
      </p:sp>
    </p:spTree>
    <p:extLst>
      <p:ext uri="{BB962C8B-B14F-4D97-AF65-F5344CB8AC3E}">
        <p14:creationId xmlns:p14="http://schemas.microsoft.com/office/powerpoint/2010/main" val="2412099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85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E49BA21-3F44-10F0-F831-B393D5EA92DC}"/>
              </a:ext>
            </a:extLst>
          </p:cNvPr>
          <p:cNvSpPr>
            <a:spLocks noGrp="1"/>
          </p:cNvSpPr>
          <p:nvPr>
            <p:ph type="ctr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r>
              <a:rPr lang="en-US" sz="2600" kern="1200">
                <a:solidFill>
                  <a:srgbClr val="FFFFFF"/>
                </a:solidFill>
                <a:latin typeface="+mj-lt"/>
                <a:ea typeface="+mj-ea"/>
                <a:cs typeface="+mj-cs"/>
              </a:rPr>
              <a:t>Mes certifications</a:t>
            </a:r>
          </a:p>
        </p:txBody>
      </p:sp>
      <p:pic>
        <p:nvPicPr>
          <p:cNvPr id="5" name="Vidéo 4" descr="Médaille d’or de numéro un">
            <a:extLst>
              <a:ext uri="{FF2B5EF4-FFF2-40B4-BE49-F238E27FC236}">
                <a16:creationId xmlns:a16="http://schemas.microsoft.com/office/drawing/2014/main" id="{ACD5F6D0-2575-2329-9197-CED04314FED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a:fillRect/>
          </a:stretch>
        </p:blipFill>
        <p:spPr>
          <a:xfrm>
            <a:off x="4038600" y="1411366"/>
            <a:ext cx="7188199" cy="4031878"/>
          </a:xfrm>
          <a:prstGeom prst="rect">
            <a:avLst/>
          </a:prstGeom>
        </p:spPr>
      </p:pic>
    </p:spTree>
    <p:extLst>
      <p:ext uri="{BB962C8B-B14F-4D97-AF65-F5344CB8AC3E}">
        <p14:creationId xmlns:p14="http://schemas.microsoft.com/office/powerpoint/2010/main" val="77421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Espace réservé du contenu 7" descr="Une image contenant texte, capture d’écran, lettre, Police&#10;&#10;Le contenu généré par l’IA peut être incorrect.">
            <a:extLst>
              <a:ext uri="{FF2B5EF4-FFF2-40B4-BE49-F238E27FC236}">
                <a16:creationId xmlns:a16="http://schemas.microsoft.com/office/drawing/2014/main" id="{4B8317E5-DEEC-6689-0D81-82CC2D1E7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060" y="643466"/>
            <a:ext cx="3941529" cy="5571066"/>
          </a:xfrm>
          <a:prstGeom prst="rect">
            <a:avLst/>
          </a:prstGeom>
        </p:spPr>
      </p:pic>
      <p:cxnSp>
        <p:nvCxnSpPr>
          <p:cNvPr id="15" name="Straight Connector 14">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Espace réservé du contenu 4" descr="Une image contenant texte, capture d’écran, Police, Impression&#10;&#10;Le contenu généré par l’IA peut être incorrect.">
            <a:extLst>
              <a:ext uri="{FF2B5EF4-FFF2-40B4-BE49-F238E27FC236}">
                <a16:creationId xmlns:a16="http://schemas.microsoft.com/office/drawing/2014/main" id="{2854EE3A-E857-B9E6-0B77-96A6F82E228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31803" y="643467"/>
            <a:ext cx="3938743" cy="5571066"/>
          </a:xfrm>
          <a:prstGeom prst="rect">
            <a:avLst/>
          </a:prstGeom>
        </p:spPr>
      </p:pic>
    </p:spTree>
    <p:extLst>
      <p:ext uri="{BB962C8B-B14F-4D97-AF65-F5344CB8AC3E}">
        <p14:creationId xmlns:p14="http://schemas.microsoft.com/office/powerpoint/2010/main" val="3424008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Espace réservé du contenu 4" descr="Une image contenant texte, capture d’écran, Police, Impression&#10;&#10;Le contenu généré par l’IA peut être incorrect.">
            <a:extLst>
              <a:ext uri="{FF2B5EF4-FFF2-40B4-BE49-F238E27FC236}">
                <a16:creationId xmlns:a16="http://schemas.microsoft.com/office/drawing/2014/main" id="{57B6D355-BBEC-4EC9-CF8F-28BACB3BC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453" y="643466"/>
            <a:ext cx="3938743" cy="5571066"/>
          </a:xfrm>
          <a:prstGeom prst="rect">
            <a:avLst/>
          </a:prstGeom>
        </p:spPr>
      </p:pic>
      <p:cxnSp>
        <p:nvCxnSpPr>
          <p:cNvPr id="27" name="Straight Connector 26">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Espace réservé du contenu 4" descr="Une image contenant texte, capture d’écran, Police, Impression&#10;&#10;Le contenu généré par l’IA peut être incorrect.">
            <a:extLst>
              <a:ext uri="{FF2B5EF4-FFF2-40B4-BE49-F238E27FC236}">
                <a16:creationId xmlns:a16="http://schemas.microsoft.com/office/drawing/2014/main" id="{54506728-B732-E58F-A5E0-2688FAD15C4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31803" y="643467"/>
            <a:ext cx="3938743" cy="5571066"/>
          </a:xfrm>
          <a:prstGeom prst="rect">
            <a:avLst/>
          </a:prstGeom>
        </p:spPr>
      </p:pic>
    </p:spTree>
    <p:extLst>
      <p:ext uri="{BB962C8B-B14F-4D97-AF65-F5344CB8AC3E}">
        <p14:creationId xmlns:p14="http://schemas.microsoft.com/office/powerpoint/2010/main" val="4083094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Espace réservé du contenu 11" descr="Une image contenant texte, capture d’écran, Police&#10;&#10;Le contenu généré par l’IA peut être incorrect.">
            <a:extLst>
              <a:ext uri="{FF2B5EF4-FFF2-40B4-BE49-F238E27FC236}">
                <a16:creationId xmlns:a16="http://schemas.microsoft.com/office/drawing/2014/main" id="{7DFBFC7F-5D87-D2F3-D85D-D22A52578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0114" y="1484652"/>
            <a:ext cx="5294716" cy="3587170"/>
          </a:xfrm>
          <a:prstGeom prst="rect">
            <a:avLst/>
          </a:prstGeom>
        </p:spPr>
      </p:pic>
      <p:cxnSp>
        <p:nvCxnSpPr>
          <p:cNvPr id="58" name="Straight Connector 57">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9" name="Espace réservé du contenu 8" descr="Une image contenant texte, capture d’écran, Police&#10;&#10;Le contenu généré par l’IA peut être incorrect.">
            <a:extLst>
              <a:ext uri="{FF2B5EF4-FFF2-40B4-BE49-F238E27FC236}">
                <a16:creationId xmlns:a16="http://schemas.microsoft.com/office/drawing/2014/main" id="{67650BB6-4202-E5C4-410A-990ED6EBBB2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5243" y="1484653"/>
            <a:ext cx="5294715" cy="3587169"/>
          </a:xfrm>
          <a:prstGeom prst="rect">
            <a:avLst/>
          </a:prstGeom>
        </p:spPr>
      </p:pic>
    </p:spTree>
    <p:extLst>
      <p:ext uri="{BB962C8B-B14F-4D97-AF65-F5344CB8AC3E}">
        <p14:creationId xmlns:p14="http://schemas.microsoft.com/office/powerpoint/2010/main" val="2690917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 13" descr="Une image contenant texte, capture d’écran, Police&#10;&#10;Le contenu généré par l’IA peut être incorrect.">
            <a:extLst>
              <a:ext uri="{FF2B5EF4-FFF2-40B4-BE49-F238E27FC236}">
                <a16:creationId xmlns:a16="http://schemas.microsoft.com/office/drawing/2014/main" id="{0CBC8842-8649-9654-AF81-DCC8C1A2F6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635414"/>
            <a:ext cx="5294716" cy="3587170"/>
          </a:xfrm>
          <a:prstGeom prst="rect">
            <a:avLst/>
          </a:prstGeom>
        </p:spPr>
      </p:pic>
      <p:cxnSp>
        <p:nvCxnSpPr>
          <p:cNvPr id="46" name="Straight Connector 4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17" name="Espace réservé du contenu 16" descr="Une image contenant texte, capture d’écran, Police&#10;&#10;Le contenu généré par l’IA peut être incorrect.">
            <a:extLst>
              <a:ext uri="{FF2B5EF4-FFF2-40B4-BE49-F238E27FC236}">
                <a16:creationId xmlns:a16="http://schemas.microsoft.com/office/drawing/2014/main" id="{8B69BEAE-7917-0297-753A-42B30152FD3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53817" y="1635415"/>
            <a:ext cx="5294715" cy="3587169"/>
          </a:xfrm>
          <a:prstGeom prst="rect">
            <a:avLst/>
          </a:prstGeom>
        </p:spPr>
      </p:pic>
    </p:spTree>
    <p:extLst>
      <p:ext uri="{BB962C8B-B14F-4D97-AF65-F5344CB8AC3E}">
        <p14:creationId xmlns:p14="http://schemas.microsoft.com/office/powerpoint/2010/main" val="906743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98B41E-BADB-A08C-3A77-0CC59AF74C7E}"/>
              </a:ext>
            </a:extLst>
          </p:cNvPr>
          <p:cNvSpPr>
            <a:spLocks noGrp="1"/>
          </p:cNvSpPr>
          <p:nvPr>
            <p:ph type="title"/>
          </p:nvPr>
        </p:nvSpPr>
        <p:spPr/>
        <p:txBody>
          <a:bodyPr/>
          <a:lstStyle/>
          <a:p>
            <a:r>
              <a:rPr lang="fr-FR" dirty="0"/>
              <a:t>Pertinence des besoins exprimés</a:t>
            </a:r>
          </a:p>
        </p:txBody>
      </p:sp>
      <p:sp>
        <p:nvSpPr>
          <p:cNvPr id="3" name="Espace réservé du contenu 2">
            <a:extLst>
              <a:ext uri="{FF2B5EF4-FFF2-40B4-BE49-F238E27FC236}">
                <a16:creationId xmlns:a16="http://schemas.microsoft.com/office/drawing/2014/main" id="{23D6E26F-BBAD-F9AC-3B91-D36593154F92}"/>
              </a:ext>
            </a:extLst>
          </p:cNvPr>
          <p:cNvSpPr>
            <a:spLocks noGrp="1"/>
          </p:cNvSpPr>
          <p:nvPr>
            <p:ph idx="1"/>
          </p:nvPr>
        </p:nvSpPr>
        <p:spPr/>
        <p:txBody>
          <a:bodyPr/>
          <a:lstStyle/>
          <a:p>
            <a:pPr marL="0" indent="0">
              <a:buNone/>
            </a:pPr>
            <a:r>
              <a:rPr lang="fr-FR" dirty="0"/>
              <a:t>Souhaitant développer mes compétences en lien direct avec les exigences actuelles du marché de l’emploi, j’ai identifié le besoin de maîtriser les bases de la programmation. Ces compétences sont essentielles dans mon projet professionnel lié au secteur informatique.</a:t>
            </a:r>
          </a:p>
        </p:txBody>
      </p:sp>
    </p:spTree>
    <p:extLst>
      <p:ext uri="{BB962C8B-B14F-4D97-AF65-F5344CB8AC3E}">
        <p14:creationId xmlns:p14="http://schemas.microsoft.com/office/powerpoint/2010/main" val="1090630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81E2D2-715D-3E89-E1CE-B1E2F3255AAE}"/>
              </a:ext>
            </a:extLst>
          </p:cNvPr>
          <p:cNvSpPr>
            <a:spLocks noGrp="1"/>
          </p:cNvSpPr>
          <p:nvPr>
            <p:ph type="title"/>
          </p:nvPr>
        </p:nvSpPr>
        <p:spPr/>
        <p:txBody>
          <a:bodyPr/>
          <a:lstStyle/>
          <a:p>
            <a:r>
              <a:rPr lang="fr-FR" dirty="0"/>
              <a:t>Connaissance de l’offre de certifications</a:t>
            </a:r>
          </a:p>
        </p:txBody>
      </p:sp>
      <p:sp>
        <p:nvSpPr>
          <p:cNvPr id="3" name="Espace réservé du contenu 2">
            <a:extLst>
              <a:ext uri="{FF2B5EF4-FFF2-40B4-BE49-F238E27FC236}">
                <a16:creationId xmlns:a16="http://schemas.microsoft.com/office/drawing/2014/main" id="{04729125-DC9D-8CE1-AAB2-E55F6B50DEB6}"/>
              </a:ext>
            </a:extLst>
          </p:cNvPr>
          <p:cNvSpPr>
            <a:spLocks noGrp="1"/>
          </p:cNvSpPr>
          <p:nvPr>
            <p:ph idx="1"/>
          </p:nvPr>
        </p:nvSpPr>
        <p:spPr/>
        <p:txBody>
          <a:bodyPr/>
          <a:lstStyle/>
          <a:p>
            <a:pPr marL="0" indent="0">
              <a:buNone/>
            </a:pPr>
            <a:r>
              <a:rPr lang="fr-FR" dirty="0"/>
              <a:t>J’ai exploré différentes plateformes de certification en ligne. </a:t>
            </a:r>
            <a:r>
              <a:rPr lang="fr-FR" dirty="0" err="1"/>
              <a:t>Pix</a:t>
            </a:r>
            <a:r>
              <a:rPr lang="fr-FR" dirty="0"/>
              <a:t> m’a permis d’évaluer et de développer  mes compétences numériques. </a:t>
            </a:r>
            <a:r>
              <a:rPr lang="fr-FR" dirty="0" err="1"/>
              <a:t>Cursa</a:t>
            </a:r>
            <a:r>
              <a:rPr lang="fr-FR" dirty="0"/>
              <a:t> m’a offert des modules professionnalisants en programmations. Cisco, avec sa plateforme </a:t>
            </a:r>
            <a:r>
              <a:rPr lang="fr-FR" dirty="0" err="1"/>
              <a:t>NetAcad</a:t>
            </a:r>
            <a:r>
              <a:rPr lang="fr-FR" dirty="0"/>
              <a:t>, propose des certifications reconnues mondialement en réseaux et cybersécurité.</a:t>
            </a:r>
          </a:p>
        </p:txBody>
      </p:sp>
    </p:spTree>
    <p:extLst>
      <p:ext uri="{BB962C8B-B14F-4D97-AF65-F5344CB8AC3E}">
        <p14:creationId xmlns:p14="http://schemas.microsoft.com/office/powerpoint/2010/main" val="3236612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8B630D-4659-5859-F684-87B6FDEC2EBF}"/>
              </a:ext>
            </a:extLst>
          </p:cNvPr>
          <p:cNvSpPr>
            <a:spLocks noGrp="1"/>
          </p:cNvSpPr>
          <p:nvPr>
            <p:ph type="title"/>
          </p:nvPr>
        </p:nvSpPr>
        <p:spPr/>
        <p:txBody>
          <a:bodyPr/>
          <a:lstStyle/>
          <a:p>
            <a:r>
              <a:rPr lang="fr-FR" dirty="0"/>
              <a:t>Adéquation des certifications préparées avec le projet professionnel</a:t>
            </a:r>
          </a:p>
        </p:txBody>
      </p:sp>
      <p:sp>
        <p:nvSpPr>
          <p:cNvPr id="3" name="Espace réservé du contenu 2">
            <a:extLst>
              <a:ext uri="{FF2B5EF4-FFF2-40B4-BE49-F238E27FC236}">
                <a16:creationId xmlns:a16="http://schemas.microsoft.com/office/drawing/2014/main" id="{1E0BAC3C-AA69-BFB1-FB46-2100D972E827}"/>
              </a:ext>
            </a:extLst>
          </p:cNvPr>
          <p:cNvSpPr>
            <a:spLocks noGrp="1"/>
          </p:cNvSpPr>
          <p:nvPr>
            <p:ph idx="1"/>
          </p:nvPr>
        </p:nvSpPr>
        <p:spPr/>
        <p:txBody>
          <a:bodyPr/>
          <a:lstStyle/>
          <a:p>
            <a:pPr marL="0" indent="0">
              <a:buNone/>
            </a:pPr>
            <a:r>
              <a:rPr lang="fr-FR" dirty="0"/>
              <a:t>La certification </a:t>
            </a:r>
            <a:r>
              <a:rPr lang="fr-FR" dirty="0" err="1"/>
              <a:t>Pix</a:t>
            </a:r>
            <a:r>
              <a:rPr lang="fr-FR" dirty="0"/>
              <a:t> adéquate avec mon objectif de bien maîtriser mes compétences numériques de base. La certification </a:t>
            </a:r>
            <a:r>
              <a:rPr lang="fr-FR" dirty="0" err="1"/>
              <a:t>Cursa</a:t>
            </a:r>
            <a:r>
              <a:rPr lang="fr-FR" dirty="0"/>
              <a:t> m’a permis de renforcer mes compétences sur des langages informatiques comme HTML, CSS et JavaScript. La certification Cisco correspond parfaitement car elle m’a permis d’acquérir les bases nécessaires pour comprendre les enjeux de sécurité informatique.</a:t>
            </a:r>
          </a:p>
        </p:txBody>
      </p:sp>
    </p:spTree>
    <p:extLst>
      <p:ext uri="{BB962C8B-B14F-4D97-AF65-F5344CB8AC3E}">
        <p14:creationId xmlns:p14="http://schemas.microsoft.com/office/powerpoint/2010/main" val="2903281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8759-8D67-FFB0-56FD-32CE16D179AA}"/>
              </a:ext>
            </a:extLst>
          </p:cNvPr>
          <p:cNvSpPr>
            <a:spLocks noGrp="1"/>
          </p:cNvSpPr>
          <p:nvPr>
            <p:ph type="title"/>
          </p:nvPr>
        </p:nvSpPr>
        <p:spPr/>
        <p:txBody>
          <a:bodyPr/>
          <a:lstStyle/>
          <a:p>
            <a:r>
              <a:rPr lang="fr-FR" dirty="0"/>
              <a:t>Démarche entreprise pour la préparation des certifications</a:t>
            </a:r>
          </a:p>
        </p:txBody>
      </p:sp>
      <p:sp>
        <p:nvSpPr>
          <p:cNvPr id="3" name="Espace réservé du contenu 2">
            <a:extLst>
              <a:ext uri="{FF2B5EF4-FFF2-40B4-BE49-F238E27FC236}">
                <a16:creationId xmlns:a16="http://schemas.microsoft.com/office/drawing/2014/main" id="{CFFB726C-B75B-158D-59FB-C8867CB44CF9}"/>
              </a:ext>
            </a:extLst>
          </p:cNvPr>
          <p:cNvSpPr>
            <a:spLocks noGrp="1"/>
          </p:cNvSpPr>
          <p:nvPr>
            <p:ph idx="1"/>
          </p:nvPr>
        </p:nvSpPr>
        <p:spPr/>
        <p:txBody>
          <a:bodyPr>
            <a:normAutofit/>
          </a:bodyPr>
          <a:lstStyle/>
          <a:p>
            <a:pPr marL="0" indent="0">
              <a:buNone/>
            </a:pPr>
            <a:r>
              <a:rPr lang="fr-FR" b="1" u="sng" dirty="0">
                <a:highlight>
                  <a:srgbClr val="FFFF00"/>
                </a:highlight>
              </a:rPr>
              <a:t>J’ai établi un tableau de travail </a:t>
            </a:r>
          </a:p>
          <a:p>
            <a:pPr marL="0" indent="0">
              <a:buNone/>
            </a:pPr>
            <a:endParaRPr lang="fr-FR" dirty="0"/>
          </a:p>
          <a:p>
            <a:pPr marL="0" indent="0">
              <a:buNone/>
            </a:pPr>
            <a:endParaRPr lang="fr-FR" dirty="0"/>
          </a:p>
          <a:p>
            <a:pPr marL="0" indent="0">
              <a:buNone/>
            </a:pPr>
            <a:endParaRPr lang="fr-FR" dirty="0"/>
          </a:p>
        </p:txBody>
      </p:sp>
      <p:graphicFrame>
        <p:nvGraphicFramePr>
          <p:cNvPr id="6" name="Tableau 5">
            <a:extLst>
              <a:ext uri="{FF2B5EF4-FFF2-40B4-BE49-F238E27FC236}">
                <a16:creationId xmlns:a16="http://schemas.microsoft.com/office/drawing/2014/main" id="{9BC3B2FC-3635-496D-379C-0C5ABB40A253}"/>
              </a:ext>
            </a:extLst>
          </p:cNvPr>
          <p:cNvGraphicFramePr>
            <a:graphicFrameLocks noGrp="1"/>
          </p:cNvGraphicFramePr>
          <p:nvPr>
            <p:extLst>
              <p:ext uri="{D42A27DB-BD31-4B8C-83A1-F6EECF244321}">
                <p14:modId xmlns:p14="http://schemas.microsoft.com/office/powerpoint/2010/main" val="4276390054"/>
              </p:ext>
            </p:extLst>
          </p:nvPr>
        </p:nvGraphicFramePr>
        <p:xfrm>
          <a:off x="838200" y="2908093"/>
          <a:ext cx="8905406" cy="1933732"/>
        </p:xfrm>
        <a:graphic>
          <a:graphicData uri="http://schemas.openxmlformats.org/drawingml/2006/table">
            <a:tbl>
              <a:tblPr firstRow="1" bandRow="1">
                <a:tableStyleId>{7DF18680-E054-41AD-8BC1-D1AEF772440D}</a:tableStyleId>
              </a:tblPr>
              <a:tblGrid>
                <a:gridCol w="2635124">
                  <a:extLst>
                    <a:ext uri="{9D8B030D-6E8A-4147-A177-3AD203B41FA5}">
                      <a16:colId xmlns:a16="http://schemas.microsoft.com/office/drawing/2014/main" val="40973032"/>
                    </a:ext>
                  </a:extLst>
                </a:gridCol>
                <a:gridCol w="3005575">
                  <a:extLst>
                    <a:ext uri="{9D8B030D-6E8A-4147-A177-3AD203B41FA5}">
                      <a16:colId xmlns:a16="http://schemas.microsoft.com/office/drawing/2014/main" val="1643042257"/>
                    </a:ext>
                  </a:extLst>
                </a:gridCol>
                <a:gridCol w="3264707">
                  <a:extLst>
                    <a:ext uri="{9D8B030D-6E8A-4147-A177-3AD203B41FA5}">
                      <a16:colId xmlns:a16="http://schemas.microsoft.com/office/drawing/2014/main" val="354900032"/>
                    </a:ext>
                  </a:extLst>
                </a:gridCol>
              </a:tblGrid>
              <a:tr h="638664">
                <a:tc>
                  <a:txBody>
                    <a:bodyPr/>
                    <a:lstStyle/>
                    <a:p>
                      <a:r>
                        <a:rPr lang="fr-FR" dirty="0"/>
                        <a:t>Mardi</a:t>
                      </a:r>
                    </a:p>
                  </a:txBody>
                  <a:tcPr/>
                </a:tc>
                <a:tc>
                  <a:txBody>
                    <a:bodyPr/>
                    <a:lstStyle/>
                    <a:p>
                      <a:r>
                        <a:rPr lang="fr-FR" dirty="0"/>
                        <a:t>Vendredi</a:t>
                      </a:r>
                    </a:p>
                  </a:txBody>
                  <a:tcPr/>
                </a:tc>
                <a:tc>
                  <a:txBody>
                    <a:bodyPr/>
                    <a:lstStyle/>
                    <a:p>
                      <a:r>
                        <a:rPr lang="fr-FR" dirty="0"/>
                        <a:t>Week ends</a:t>
                      </a:r>
                    </a:p>
                  </a:txBody>
                  <a:tcPr/>
                </a:tc>
                <a:extLst>
                  <a:ext uri="{0D108BD9-81ED-4DB2-BD59-A6C34878D82A}">
                    <a16:rowId xmlns:a16="http://schemas.microsoft.com/office/drawing/2014/main" val="2831917935"/>
                  </a:ext>
                </a:extLst>
              </a:tr>
              <a:tr h="647534">
                <a:tc>
                  <a:txBody>
                    <a:bodyPr/>
                    <a:lstStyle/>
                    <a:p>
                      <a:r>
                        <a:rPr lang="fr-FR" dirty="0"/>
                        <a:t>PIX</a:t>
                      </a:r>
                    </a:p>
                  </a:txBody>
                  <a:tcPr/>
                </a:tc>
                <a:tc>
                  <a:txBody>
                    <a:bodyPr/>
                    <a:lstStyle/>
                    <a:p>
                      <a:r>
                        <a:rPr lang="fr-FR" dirty="0"/>
                        <a:t>Cisco</a:t>
                      </a:r>
                    </a:p>
                  </a:txBody>
                  <a:tcPr/>
                </a:tc>
                <a:tc>
                  <a:txBody>
                    <a:bodyPr/>
                    <a:lstStyle/>
                    <a:p>
                      <a:r>
                        <a:rPr lang="fr-FR" dirty="0" err="1"/>
                        <a:t>Cursa</a:t>
                      </a:r>
                      <a:endParaRPr lang="fr-FR" dirty="0"/>
                    </a:p>
                  </a:txBody>
                  <a:tcPr/>
                </a:tc>
                <a:extLst>
                  <a:ext uri="{0D108BD9-81ED-4DB2-BD59-A6C34878D82A}">
                    <a16:rowId xmlns:a16="http://schemas.microsoft.com/office/drawing/2014/main" val="1029125934"/>
                  </a:ext>
                </a:extLst>
              </a:tr>
              <a:tr h="647534">
                <a:tc>
                  <a:txBody>
                    <a:bodyPr/>
                    <a:lstStyle/>
                    <a:p>
                      <a:r>
                        <a:rPr lang="fr-FR" dirty="0"/>
                        <a:t>2H</a:t>
                      </a:r>
                    </a:p>
                  </a:txBody>
                  <a:tcPr/>
                </a:tc>
                <a:tc>
                  <a:txBody>
                    <a:bodyPr/>
                    <a:lstStyle/>
                    <a:p>
                      <a:r>
                        <a:rPr lang="fr-FR" dirty="0"/>
                        <a:t>4H</a:t>
                      </a:r>
                    </a:p>
                  </a:txBody>
                  <a:tcPr/>
                </a:tc>
                <a:tc>
                  <a:txBody>
                    <a:bodyPr/>
                    <a:lstStyle/>
                    <a:p>
                      <a:r>
                        <a:rPr lang="fr-FR" dirty="0"/>
                        <a:t>1H ou 2H</a:t>
                      </a:r>
                    </a:p>
                  </a:txBody>
                  <a:tcPr/>
                </a:tc>
                <a:extLst>
                  <a:ext uri="{0D108BD9-81ED-4DB2-BD59-A6C34878D82A}">
                    <a16:rowId xmlns:a16="http://schemas.microsoft.com/office/drawing/2014/main" val="1433841538"/>
                  </a:ext>
                </a:extLst>
              </a:tr>
            </a:tbl>
          </a:graphicData>
        </a:graphic>
      </p:graphicFrame>
    </p:spTree>
    <p:extLst>
      <p:ext uri="{BB962C8B-B14F-4D97-AF65-F5344CB8AC3E}">
        <p14:creationId xmlns:p14="http://schemas.microsoft.com/office/powerpoint/2010/main" val="311442655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188</Words>
  <Application>Microsoft Office PowerPoint</Application>
  <PresentationFormat>Grand écran</PresentationFormat>
  <Paragraphs>19</Paragraphs>
  <Slides>9</Slides>
  <Notes>0</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Aptos</vt:lpstr>
      <vt:lpstr>Aptos Display</vt:lpstr>
      <vt:lpstr>Arial</vt:lpstr>
      <vt:lpstr>Thème Office</vt:lpstr>
      <vt:lpstr>Mes certifications</vt:lpstr>
      <vt:lpstr>Présentation PowerPoint</vt:lpstr>
      <vt:lpstr>Présentation PowerPoint</vt:lpstr>
      <vt:lpstr>Présentation PowerPoint</vt:lpstr>
      <vt:lpstr>Présentation PowerPoint</vt:lpstr>
      <vt:lpstr>Pertinence des besoins exprimés</vt:lpstr>
      <vt:lpstr>Connaissance de l’offre de certifications</vt:lpstr>
      <vt:lpstr>Adéquation des certifications préparées avec le projet professionnel</vt:lpstr>
      <vt:lpstr>Démarche entreprise pour la préparation des certifications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Ravelo Bacar</dc:creator>
  <cp:lastModifiedBy>Ravelo Bacar</cp:lastModifiedBy>
  <cp:revision>1</cp:revision>
  <dcterms:created xsi:type="dcterms:W3CDTF">2025-06-04T17:32:44Z</dcterms:created>
  <dcterms:modified xsi:type="dcterms:W3CDTF">2025-06-04T21:31:17Z</dcterms:modified>
</cp:coreProperties>
</file>